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109f7cb0e0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109f7cb0e0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109f7cb0e04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109f7cb0e04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109f7cb0e04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109f7cb0e04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109f7cb0e04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109f7cb0e04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109f7cb0e04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109f7cb0e04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109f7cb0e04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109f7cb0e04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109f7cb0e04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109f7cb0e04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109f7cb0e04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109f7cb0e04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109f7cb0e04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109f7cb0e04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109f7cb0e04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109f7cb0e04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www.redhat.com/en/topics/containers" TargetMode="External"/><Relationship Id="rId4" Type="http://schemas.openxmlformats.org/officeDocument/2006/relationships/hyperlink" Target="https://en.wikipedia.org/wiki/Platform_as_a_service" TargetMode="External"/><Relationship Id="rId11" Type="http://schemas.openxmlformats.org/officeDocument/2006/relationships/hyperlink" Target="https://en.wikipedia.org/wiki/Docker_(software)#cite_note-what-is-a-container-8" TargetMode="External"/><Relationship Id="rId10" Type="http://schemas.openxmlformats.org/officeDocument/2006/relationships/hyperlink" Target="https://en.wikipedia.org/wiki/Virtual_machine" TargetMode="External"/><Relationship Id="rId9" Type="http://schemas.openxmlformats.org/officeDocument/2006/relationships/hyperlink" Target="https://en.wikipedia.org/wiki/Kernel_(operating_system)" TargetMode="External"/><Relationship Id="rId5" Type="http://schemas.openxmlformats.org/officeDocument/2006/relationships/hyperlink" Target="https://en.wikipedia.org/wiki/OS-level_virtualization" TargetMode="External"/><Relationship Id="rId6" Type="http://schemas.openxmlformats.org/officeDocument/2006/relationships/hyperlink" Target="https://en.wikipedia.org/wiki/Docker_(software)#cite_note-SYS-CON_Media-6" TargetMode="External"/><Relationship Id="rId7" Type="http://schemas.openxmlformats.org/officeDocument/2006/relationships/hyperlink" Target="https://en.wikipedia.org/wiki/Library_(computing)" TargetMode="External"/><Relationship Id="rId8" Type="http://schemas.openxmlformats.org/officeDocument/2006/relationships/hyperlink" Target="https://en.wikipedia.org/wiki/Docker_(software)#cite_note-Auto38-1-7"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www.redhat.com/en/topics/virtualization" TargetMode="External"/><Relationship Id="rId4" Type="http://schemas.openxmlformats.org/officeDocument/2006/relationships/hyperlink" Target="https://www.redhat.com/en/topics/linux"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1" Type="http://schemas.openxmlformats.org/officeDocument/2006/relationships/hyperlink" Target="https://en.wikipedia.org/wiki/Hostname" TargetMode="External"/><Relationship Id="rId10" Type="http://schemas.openxmlformats.org/officeDocument/2006/relationships/hyperlink" Target="https://en.wikipedia.org/wiki/Iptables" TargetMode="External"/><Relationship Id="rId13" Type="http://schemas.openxmlformats.org/officeDocument/2006/relationships/hyperlink" Target="https://en.wikipedia.org/wiki/Inter-process_communication" TargetMode="External"/><Relationship Id="rId12" Type="http://schemas.openxmlformats.org/officeDocument/2006/relationships/hyperlink" Target="https://en.wikipedia.org/wiki/Mount_(computing)" TargetMode="External"/><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man7.org/linux/man-pages/man1/chroot.1.html" TargetMode="External"/><Relationship Id="rId4" Type="http://schemas.openxmlformats.org/officeDocument/2006/relationships/hyperlink" Target="https://linuxcontainers.org/" TargetMode="External"/><Relationship Id="rId9" Type="http://schemas.openxmlformats.org/officeDocument/2006/relationships/hyperlink" Target="https://en.wikipedia.org/wiki/Network_interface_controller" TargetMode="External"/><Relationship Id="rId5" Type="http://schemas.openxmlformats.org/officeDocument/2006/relationships/hyperlink" Target="https://en.wikipedia.org/wiki/Linux_kernel" TargetMode="External"/><Relationship Id="rId6" Type="http://schemas.openxmlformats.org/officeDocument/2006/relationships/hyperlink" Target="https://en.wikipedia.org/wiki/Resource_(computer_science)" TargetMode="External"/><Relationship Id="rId7" Type="http://schemas.openxmlformats.org/officeDocument/2006/relationships/hyperlink" Target="https://en.wikipedia.org/wiki/Process_(computing)" TargetMode="External"/><Relationship Id="rId8" Type="http://schemas.openxmlformats.org/officeDocument/2006/relationships/hyperlink" Target="https://en.wikipedia.org/wiki/Process_identifier"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en.wikipedia.org/wiki/Daemon_(computing)" TargetMode="External"/><Relationship Id="rId4" Type="http://schemas.openxmlformats.org/officeDocument/2006/relationships/hyperlink" Target="https://en.wikipedia.org/wiki/Command-line_interface" TargetMode="External"/><Relationship Id="rId5" Type="http://schemas.openxmlformats.org/officeDocument/2006/relationships/hyperlink" Target="https://en.wikipedia.org/wiki/Command-line_interface"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en.wikipedia.org/wiki/YAML" TargetMode="External"/><Relationship Id="rId4" Type="http://schemas.openxmlformats.org/officeDocument/2006/relationships/hyperlink" Target="https://en.wikipedia.org/wiki/Scalability" TargetMode="External"/><Relationship Id="rId9" Type="http://schemas.openxmlformats.org/officeDocument/2006/relationships/hyperlink" Target="https://en.wikipedia.org/wiki/Docker_(software)#cite_note-aquasec-40" TargetMode="External"/><Relationship Id="rId5" Type="http://schemas.openxmlformats.org/officeDocument/2006/relationships/hyperlink" Target="https://en.wikipedia.org/wiki/Docker_(software)#cite_note-compose-v3-ref-32" TargetMode="External"/><Relationship Id="rId6" Type="http://schemas.openxmlformats.org/officeDocument/2006/relationships/hyperlink" Target="https://en.wikipedia.org/wiki/Computer_cluster" TargetMode="External"/><Relationship Id="rId7" Type="http://schemas.openxmlformats.org/officeDocument/2006/relationships/hyperlink" Target="https://en.wikipedia.org/wiki/Raft_(computer_science)" TargetMode="External"/><Relationship Id="rId8" Type="http://schemas.openxmlformats.org/officeDocument/2006/relationships/hyperlink" Target="https://en.wikipedia.org/wiki/Consensus_(computer_science)"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Containers(Docker)</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By Jiten Palaparthi</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a container?</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SzPts val="1500"/>
              <a:buChar char="-"/>
            </a:pPr>
            <a:r>
              <a:rPr lang="en" sz="1500">
                <a:solidFill>
                  <a:srgbClr val="24292F"/>
                </a:solidFill>
                <a:highlight>
                  <a:srgbClr val="FFFFFF"/>
                </a:highlight>
              </a:rPr>
              <a:t>A container is a self contained execution environment that shares the kernel of the host system and which is (optionally) isolated from other containers in the system.</a:t>
            </a:r>
            <a:endParaRPr sz="1500">
              <a:solidFill>
                <a:srgbClr val="151515"/>
              </a:solidFill>
              <a:highlight>
                <a:srgbClr val="FFFFFF"/>
              </a:highlight>
            </a:endParaRPr>
          </a:p>
          <a:p>
            <a:pPr indent="-323850" lvl="0" marL="457200" rtl="0" algn="l">
              <a:spcBef>
                <a:spcPts val="0"/>
              </a:spcBef>
              <a:spcAft>
                <a:spcPts val="0"/>
              </a:spcAft>
              <a:buSzPts val="1500"/>
              <a:buChar char="-"/>
            </a:pPr>
            <a:r>
              <a:rPr lang="en" sz="1500">
                <a:solidFill>
                  <a:srgbClr val="151515"/>
                </a:solidFill>
                <a:highlight>
                  <a:srgbClr val="FFFFFF"/>
                </a:highlight>
              </a:rPr>
              <a:t>A </a:t>
            </a:r>
            <a:r>
              <a:rPr b="1" lang="en" sz="1500">
                <a:solidFill>
                  <a:srgbClr val="0066CC"/>
                </a:solidFill>
                <a:highlight>
                  <a:srgbClr val="FFFFFF"/>
                </a:highlight>
                <a:uFill>
                  <a:noFill/>
                </a:uFill>
                <a:hlinkClick r:id="rId3">
                  <a:extLst>
                    <a:ext uri="{A12FA001-AC4F-418D-AE19-62706E023703}">
                      <ahyp:hlinkClr val="tx"/>
                    </a:ext>
                  </a:extLst>
                </a:hlinkClick>
              </a:rPr>
              <a:t>Linux® container</a:t>
            </a:r>
            <a:r>
              <a:rPr lang="en" sz="1500">
                <a:solidFill>
                  <a:srgbClr val="151515"/>
                </a:solidFill>
                <a:highlight>
                  <a:srgbClr val="FFFFFF"/>
                </a:highlight>
              </a:rPr>
              <a:t> is a set of 1 or more processes that are isolated from the rest of the system. All the files necessary to run them are provided from a distinct image, meaning Linux containers are portable and consistent as they move from development, to testing, and finally to production. (By RedHat)</a:t>
            </a:r>
            <a:endParaRPr sz="1500">
              <a:solidFill>
                <a:srgbClr val="151515"/>
              </a:solidFill>
              <a:highlight>
                <a:srgbClr val="FFFFFF"/>
              </a:highlight>
            </a:endParaRPr>
          </a:p>
          <a:p>
            <a:pPr indent="-323850" lvl="0" marL="457200" rtl="0" algn="l">
              <a:spcBef>
                <a:spcPts val="0"/>
              </a:spcBef>
              <a:spcAft>
                <a:spcPts val="0"/>
              </a:spcAft>
              <a:buClr>
                <a:srgbClr val="151515"/>
              </a:buClr>
              <a:buSzPts val="1500"/>
              <a:buChar char="-"/>
            </a:pPr>
            <a:r>
              <a:rPr b="1" lang="en" sz="1500">
                <a:solidFill>
                  <a:srgbClr val="202122"/>
                </a:solidFill>
                <a:highlight>
                  <a:srgbClr val="FFFFFF"/>
                </a:highlight>
              </a:rPr>
              <a:t>Docker</a:t>
            </a:r>
            <a:r>
              <a:rPr lang="en" sz="1500">
                <a:solidFill>
                  <a:srgbClr val="202122"/>
                </a:solidFill>
                <a:highlight>
                  <a:srgbClr val="FFFFFF"/>
                </a:highlight>
              </a:rPr>
              <a:t> is a set of </a:t>
            </a:r>
            <a:r>
              <a:rPr lang="en" sz="1500">
                <a:solidFill>
                  <a:srgbClr val="0645AD"/>
                </a:solidFill>
                <a:highlight>
                  <a:srgbClr val="FFFFFF"/>
                </a:highlight>
                <a:uFill>
                  <a:noFill/>
                </a:uFill>
                <a:hlinkClick r:id="rId4">
                  <a:extLst>
                    <a:ext uri="{A12FA001-AC4F-418D-AE19-62706E023703}">
                      <ahyp:hlinkClr val="tx"/>
                    </a:ext>
                  </a:extLst>
                </a:hlinkClick>
              </a:rPr>
              <a:t>platform as a service</a:t>
            </a:r>
            <a:r>
              <a:rPr lang="en" sz="1500">
                <a:solidFill>
                  <a:srgbClr val="202122"/>
                </a:solidFill>
                <a:highlight>
                  <a:srgbClr val="FFFFFF"/>
                </a:highlight>
              </a:rPr>
              <a:t> (PaaS) products that use </a:t>
            </a:r>
            <a:r>
              <a:rPr lang="en" sz="1500">
                <a:solidFill>
                  <a:srgbClr val="0645AD"/>
                </a:solidFill>
                <a:highlight>
                  <a:srgbClr val="FFFFFF"/>
                </a:highlight>
                <a:uFill>
                  <a:noFill/>
                </a:uFill>
                <a:hlinkClick r:id="rId5">
                  <a:extLst>
                    <a:ext uri="{A12FA001-AC4F-418D-AE19-62706E023703}">
                      <ahyp:hlinkClr val="tx"/>
                    </a:ext>
                  </a:extLst>
                </a:hlinkClick>
              </a:rPr>
              <a:t>OS-level virtualization</a:t>
            </a:r>
            <a:r>
              <a:rPr lang="en" sz="1500">
                <a:solidFill>
                  <a:srgbClr val="202122"/>
                </a:solidFill>
                <a:highlight>
                  <a:srgbClr val="FFFFFF"/>
                </a:highlight>
              </a:rPr>
              <a:t> to deliver software in packages called containers.</a:t>
            </a:r>
            <a:r>
              <a:rPr baseline="30000" lang="en" sz="1500">
                <a:solidFill>
                  <a:srgbClr val="0645AD"/>
                </a:solidFill>
                <a:highlight>
                  <a:srgbClr val="FFFFFF"/>
                </a:highlight>
                <a:uFill>
                  <a:noFill/>
                </a:uFill>
                <a:hlinkClick r:id="rId6">
                  <a:extLst>
                    <a:ext uri="{A12FA001-AC4F-418D-AE19-62706E023703}">
                      <ahyp:hlinkClr val="tx"/>
                    </a:ext>
                  </a:extLst>
                </a:hlinkClick>
              </a:rPr>
              <a:t>[6]</a:t>
            </a:r>
            <a:r>
              <a:rPr lang="en" sz="1500">
                <a:solidFill>
                  <a:srgbClr val="202122"/>
                </a:solidFill>
                <a:highlight>
                  <a:srgbClr val="FFFFFF"/>
                </a:highlight>
              </a:rPr>
              <a:t> Containers are isolated from one another and bundle their own software, </a:t>
            </a:r>
            <a:r>
              <a:rPr lang="en" sz="1500">
                <a:solidFill>
                  <a:srgbClr val="0645AD"/>
                </a:solidFill>
                <a:highlight>
                  <a:srgbClr val="FFFFFF"/>
                </a:highlight>
                <a:uFill>
                  <a:noFill/>
                </a:uFill>
                <a:hlinkClick r:id="rId7">
                  <a:extLst>
                    <a:ext uri="{A12FA001-AC4F-418D-AE19-62706E023703}">
                      <ahyp:hlinkClr val="tx"/>
                    </a:ext>
                  </a:extLst>
                </a:hlinkClick>
              </a:rPr>
              <a:t>libraries</a:t>
            </a:r>
            <a:r>
              <a:rPr lang="en" sz="1500">
                <a:solidFill>
                  <a:srgbClr val="202122"/>
                </a:solidFill>
                <a:highlight>
                  <a:srgbClr val="FFFFFF"/>
                </a:highlight>
              </a:rPr>
              <a:t> and configuration files; they can communicate with each other through well-defined channels.</a:t>
            </a:r>
            <a:r>
              <a:rPr baseline="30000" lang="en" sz="1500">
                <a:solidFill>
                  <a:srgbClr val="0645AD"/>
                </a:solidFill>
                <a:highlight>
                  <a:srgbClr val="FFFFFF"/>
                </a:highlight>
                <a:uFill>
                  <a:noFill/>
                </a:uFill>
                <a:hlinkClick r:id="rId8">
                  <a:extLst>
                    <a:ext uri="{A12FA001-AC4F-418D-AE19-62706E023703}">
                      <ahyp:hlinkClr val="tx"/>
                    </a:ext>
                  </a:extLst>
                </a:hlinkClick>
              </a:rPr>
              <a:t>[7]</a:t>
            </a:r>
            <a:r>
              <a:rPr lang="en" sz="1500">
                <a:solidFill>
                  <a:srgbClr val="202122"/>
                </a:solidFill>
                <a:highlight>
                  <a:srgbClr val="FFFFFF"/>
                </a:highlight>
              </a:rPr>
              <a:t> Because all of the containers share the services of a single </a:t>
            </a:r>
            <a:r>
              <a:rPr lang="en" sz="1500">
                <a:solidFill>
                  <a:srgbClr val="0645AD"/>
                </a:solidFill>
                <a:highlight>
                  <a:srgbClr val="FFFFFF"/>
                </a:highlight>
                <a:uFill>
                  <a:noFill/>
                </a:uFill>
                <a:hlinkClick r:id="rId9">
                  <a:extLst>
                    <a:ext uri="{A12FA001-AC4F-418D-AE19-62706E023703}">
                      <ahyp:hlinkClr val="tx"/>
                    </a:ext>
                  </a:extLst>
                </a:hlinkClick>
              </a:rPr>
              <a:t>operating system kernel</a:t>
            </a:r>
            <a:r>
              <a:rPr lang="en" sz="1500">
                <a:solidFill>
                  <a:srgbClr val="202122"/>
                </a:solidFill>
                <a:highlight>
                  <a:srgbClr val="FFFFFF"/>
                </a:highlight>
              </a:rPr>
              <a:t>, they use fewer resources than </a:t>
            </a:r>
            <a:r>
              <a:rPr lang="en" sz="1500">
                <a:solidFill>
                  <a:srgbClr val="0645AD"/>
                </a:solidFill>
                <a:highlight>
                  <a:srgbClr val="FFFFFF"/>
                </a:highlight>
                <a:uFill>
                  <a:noFill/>
                </a:uFill>
                <a:hlinkClick r:id="rId10">
                  <a:extLst>
                    <a:ext uri="{A12FA001-AC4F-418D-AE19-62706E023703}">
                      <ahyp:hlinkClr val="tx"/>
                    </a:ext>
                  </a:extLst>
                </a:hlinkClick>
              </a:rPr>
              <a:t>virtual machines</a:t>
            </a:r>
            <a:r>
              <a:rPr lang="en" sz="1500">
                <a:solidFill>
                  <a:srgbClr val="202122"/>
                </a:solidFill>
                <a:highlight>
                  <a:srgbClr val="FFFFFF"/>
                </a:highlight>
              </a:rPr>
              <a:t>.</a:t>
            </a:r>
            <a:r>
              <a:rPr baseline="30000" lang="en" sz="1500">
                <a:solidFill>
                  <a:srgbClr val="0645AD"/>
                </a:solidFill>
                <a:highlight>
                  <a:srgbClr val="FFFFFF"/>
                </a:highlight>
                <a:uFill>
                  <a:noFill/>
                </a:uFill>
                <a:hlinkClick r:id="rId11">
                  <a:extLst>
                    <a:ext uri="{A12FA001-AC4F-418D-AE19-62706E023703}">
                      <ahyp:hlinkClr val="tx"/>
                    </a:ext>
                  </a:extLst>
                </a:hlinkClick>
              </a:rPr>
              <a:t>[8]</a:t>
            </a:r>
            <a:r>
              <a:rPr lang="en" sz="1500">
                <a:solidFill>
                  <a:srgbClr val="151515"/>
                </a:solidFill>
                <a:highlight>
                  <a:srgbClr val="FFFFFF"/>
                </a:highlight>
              </a:rPr>
              <a:t> (By Wiki)</a:t>
            </a:r>
            <a:endParaRPr sz="1500">
              <a:solidFill>
                <a:srgbClr val="151515"/>
              </a:solidFill>
              <a:highlight>
                <a:srgbClr val="FFFFFF"/>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Virtualization vs Containerization</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950">
                <a:solidFill>
                  <a:srgbClr val="151515"/>
                </a:solidFill>
                <a:highlight>
                  <a:srgbClr val="FFFFFF"/>
                </a:highlight>
              </a:rPr>
              <a:t>Isn’t this just virtualization?</a:t>
            </a:r>
            <a:endParaRPr b="1" sz="1950">
              <a:solidFill>
                <a:srgbClr val="151515"/>
              </a:solidFill>
              <a:highlight>
                <a:srgbClr val="FFFFFF"/>
              </a:highlight>
            </a:endParaRPr>
          </a:p>
          <a:p>
            <a:pPr indent="-304800" lvl="0" marL="457200" rtl="0" algn="l">
              <a:spcBef>
                <a:spcPts val="1100"/>
              </a:spcBef>
              <a:spcAft>
                <a:spcPts val="0"/>
              </a:spcAft>
              <a:buClr>
                <a:srgbClr val="151515"/>
              </a:buClr>
              <a:buSzPts val="1200"/>
              <a:buChar char="●"/>
            </a:pPr>
            <a:r>
              <a:rPr lang="en" sz="1200">
                <a:solidFill>
                  <a:srgbClr val="0066CC"/>
                </a:solidFill>
                <a:highlight>
                  <a:srgbClr val="FFFFFF"/>
                </a:highlight>
                <a:uFill>
                  <a:noFill/>
                </a:uFill>
                <a:hlinkClick r:id="rId3">
                  <a:extLst>
                    <a:ext uri="{A12FA001-AC4F-418D-AE19-62706E023703}">
                      <ahyp:hlinkClr val="tx"/>
                    </a:ext>
                  </a:extLst>
                </a:hlinkClick>
              </a:rPr>
              <a:t>Virtualization</a:t>
            </a:r>
            <a:r>
              <a:rPr lang="en" sz="1200">
                <a:solidFill>
                  <a:srgbClr val="151515"/>
                </a:solidFill>
                <a:highlight>
                  <a:srgbClr val="FFFFFF"/>
                </a:highlight>
              </a:rPr>
              <a:t> lets your operating systems (Windows or </a:t>
            </a:r>
            <a:r>
              <a:rPr lang="en" sz="1200">
                <a:solidFill>
                  <a:srgbClr val="0066CC"/>
                </a:solidFill>
                <a:highlight>
                  <a:srgbClr val="FFFFFF"/>
                </a:highlight>
                <a:uFill>
                  <a:noFill/>
                </a:uFill>
                <a:hlinkClick r:id="rId4">
                  <a:extLst>
                    <a:ext uri="{A12FA001-AC4F-418D-AE19-62706E023703}">
                      <ahyp:hlinkClr val="tx"/>
                    </a:ext>
                  </a:extLst>
                </a:hlinkClick>
              </a:rPr>
              <a:t>Linux</a:t>
            </a:r>
            <a:r>
              <a:rPr lang="en" sz="1200">
                <a:solidFill>
                  <a:srgbClr val="151515"/>
                </a:solidFill>
                <a:highlight>
                  <a:srgbClr val="FFFFFF"/>
                </a:highlight>
              </a:rPr>
              <a:t>) run simultaneously on a single hardware system.</a:t>
            </a:r>
            <a:endParaRPr sz="1200">
              <a:solidFill>
                <a:srgbClr val="151515"/>
              </a:solidFill>
              <a:highlight>
                <a:srgbClr val="FFFFFF"/>
              </a:highlight>
            </a:endParaRPr>
          </a:p>
          <a:p>
            <a:pPr indent="-304800" lvl="0" marL="457200" rtl="0" algn="l">
              <a:spcBef>
                <a:spcPts val="0"/>
              </a:spcBef>
              <a:spcAft>
                <a:spcPts val="0"/>
              </a:spcAft>
              <a:buClr>
                <a:srgbClr val="151515"/>
              </a:buClr>
              <a:buSzPts val="1200"/>
              <a:buChar char="●"/>
            </a:pPr>
            <a:r>
              <a:rPr lang="en" sz="1200">
                <a:solidFill>
                  <a:srgbClr val="151515"/>
                </a:solidFill>
                <a:highlight>
                  <a:srgbClr val="FFFFFF"/>
                </a:highlight>
              </a:rPr>
              <a:t>virtualization uses a hypervisor to emulate hardware, which allows multiple operating systems to run side by side. This isn’t as lightweight as using containers. When you have finite resources with finite capabilities, you need lightweight apps that can be densely deployed. Linux containers run natively on the operating system, sharing it across all of your containers, so your apps and services stay lightweight and run swiftly in parallel.</a:t>
            </a:r>
            <a:endParaRPr sz="1200">
              <a:solidFill>
                <a:srgbClr val="151515"/>
              </a:solidFill>
              <a:highlight>
                <a:srgbClr val="FFFFFF"/>
              </a:highlight>
            </a:endParaRPr>
          </a:p>
          <a:p>
            <a:pPr indent="-304800" lvl="0" marL="457200" rtl="0" algn="l">
              <a:spcBef>
                <a:spcPts val="0"/>
              </a:spcBef>
              <a:spcAft>
                <a:spcPts val="0"/>
              </a:spcAft>
              <a:buClr>
                <a:srgbClr val="151515"/>
              </a:buClr>
              <a:buSzPts val="1200"/>
              <a:buChar char="●"/>
            </a:pPr>
            <a:r>
              <a:rPr lang="en" sz="1200">
                <a:solidFill>
                  <a:srgbClr val="151515"/>
                </a:solidFill>
                <a:highlight>
                  <a:srgbClr val="FFFFFF"/>
                </a:highlight>
              </a:rPr>
              <a:t>Containers share the same operating system kernel and isolate the application processes from the rest of the system. For example: ARM Linux systems run ARM Linux containers, x86 Linux systems run x86 Linux containers, x86 Windows systems run x86 Windows containers. Linux containers are extremely portable, but they must be compatible with the underlying system.</a:t>
            </a:r>
            <a:endParaRPr sz="1200">
              <a:solidFill>
                <a:srgbClr val="151515"/>
              </a:solidFill>
              <a:highlight>
                <a:srgbClr val="FFFFFF"/>
              </a:highlight>
            </a:endParaRPr>
          </a:p>
          <a:p>
            <a:pPr indent="-304800" lvl="0" marL="457200" rtl="0" algn="l">
              <a:spcBef>
                <a:spcPts val="0"/>
              </a:spcBef>
              <a:spcAft>
                <a:spcPts val="0"/>
              </a:spcAft>
              <a:buClr>
                <a:srgbClr val="151515"/>
              </a:buClr>
              <a:buSzPts val="1200"/>
              <a:buChar char="●"/>
            </a:pPr>
            <a:r>
              <a:rPr lang="en" sz="1200">
                <a:solidFill>
                  <a:srgbClr val="151515"/>
                </a:solidFill>
                <a:highlight>
                  <a:srgbClr val="FFFFFF"/>
                </a:highlight>
              </a:rPr>
              <a:t>Linux containers are another evolutionary leap in how we develop, deploy, and manage applications. Linux container images provide portability and version control, helping ensure that what works on a developer’s laptop also works in production. Compared to virtual machines, a running Linux container is less resource-intensive, has a standard interface</a:t>
            </a:r>
            <a:endParaRPr sz="1200">
              <a:solidFill>
                <a:srgbClr val="151515"/>
              </a:solidFill>
              <a:highlight>
                <a:srgbClr val="FFFFFF"/>
              </a:high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Virtualization vs Containerization</a:t>
            </a:r>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74" name="Google Shape;74;p16"/>
          <p:cNvPicPr preferRelativeResize="0"/>
          <p:nvPr/>
        </p:nvPicPr>
        <p:blipFill>
          <a:blip r:embed="rId3">
            <a:alphaModFix/>
          </a:blip>
          <a:stretch>
            <a:fillRect/>
          </a:stretch>
        </p:blipFill>
        <p:spPr>
          <a:xfrm>
            <a:off x="395650" y="1088325"/>
            <a:ext cx="8264776" cy="35447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Docker</a:t>
            </a:r>
            <a:endParaRPr/>
          </a:p>
        </p:txBody>
      </p:sp>
      <p:sp>
        <p:nvSpPr>
          <p:cNvPr id="80" name="Google Shape;80;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457200" rtl="0" algn="l">
              <a:spcBef>
                <a:spcPts val="0"/>
              </a:spcBef>
              <a:spcAft>
                <a:spcPts val="1200"/>
              </a:spcAft>
              <a:buNone/>
            </a:pPr>
            <a:r>
              <a:t/>
            </a:r>
            <a:endParaRPr sz="1500">
              <a:solidFill>
                <a:srgbClr val="151515"/>
              </a:solidFill>
              <a:highlight>
                <a:srgbClr val="FFFFFF"/>
              </a:highlight>
            </a:endParaRPr>
          </a:p>
        </p:txBody>
      </p:sp>
      <p:pic>
        <p:nvPicPr>
          <p:cNvPr id="81" name="Google Shape;81;p17"/>
          <p:cNvPicPr preferRelativeResize="0"/>
          <p:nvPr/>
        </p:nvPicPr>
        <p:blipFill>
          <a:blip r:embed="rId3">
            <a:alphaModFix/>
          </a:blip>
          <a:stretch>
            <a:fillRect/>
          </a:stretch>
        </p:blipFill>
        <p:spPr>
          <a:xfrm>
            <a:off x="2231050" y="1219925"/>
            <a:ext cx="4681901" cy="334895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Components to run Docker Containers</a:t>
            </a:r>
            <a:endParaRPr/>
          </a:p>
        </p:txBody>
      </p:sp>
      <p:sp>
        <p:nvSpPr>
          <p:cNvPr id="87" name="Google Shape;87;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299085" lvl="0" marL="457200" rtl="0" algn="l">
              <a:spcBef>
                <a:spcPts val="0"/>
              </a:spcBef>
              <a:spcAft>
                <a:spcPts val="0"/>
              </a:spcAft>
              <a:buSzPct val="100000"/>
              <a:buChar char="-"/>
            </a:pPr>
            <a:r>
              <a:rPr b="1" lang="en" sz="1200">
                <a:solidFill>
                  <a:schemeClr val="dk1"/>
                </a:solidFill>
              </a:rPr>
              <a:t>libcontainer</a:t>
            </a:r>
            <a:r>
              <a:rPr lang="en" sz="1200">
                <a:solidFill>
                  <a:schemeClr val="dk1"/>
                </a:solidFill>
              </a:rPr>
              <a:t>:</a:t>
            </a:r>
            <a:r>
              <a:rPr lang="en" sz="1200">
                <a:solidFill>
                  <a:srgbClr val="24292F"/>
                </a:solidFill>
                <a:highlight>
                  <a:srgbClr val="FFFFFF"/>
                </a:highlight>
              </a:rPr>
              <a:t>creating containers with namespaces, cgroups, capabilities, and filesystem access controls. It allows you to manage the lifecycle of the container performing additional operations after the container is created</a:t>
            </a:r>
            <a:endParaRPr sz="1200">
              <a:solidFill>
                <a:srgbClr val="24292F"/>
              </a:solidFill>
              <a:highlight>
                <a:srgbClr val="FFFFFF"/>
              </a:highlight>
            </a:endParaRPr>
          </a:p>
          <a:p>
            <a:pPr indent="-299085" lvl="0" marL="457200" rtl="0" algn="l">
              <a:spcBef>
                <a:spcPts val="0"/>
              </a:spcBef>
              <a:spcAft>
                <a:spcPts val="0"/>
              </a:spcAft>
              <a:buClr>
                <a:srgbClr val="24292F"/>
              </a:buClr>
              <a:buSzPct val="100000"/>
              <a:buChar char="-"/>
            </a:pPr>
            <a:r>
              <a:rPr b="1" lang="en" sz="1200">
                <a:solidFill>
                  <a:srgbClr val="24292F"/>
                </a:solidFill>
                <a:highlight>
                  <a:srgbClr val="FFFFFF"/>
                </a:highlight>
              </a:rPr>
              <a:t>systemd-nspawn</a:t>
            </a:r>
            <a:r>
              <a:rPr lang="en" sz="1200">
                <a:solidFill>
                  <a:srgbClr val="24292F"/>
                </a:solidFill>
                <a:highlight>
                  <a:srgbClr val="FFFFFF"/>
                </a:highlight>
              </a:rPr>
              <a:t>:</a:t>
            </a:r>
            <a:r>
              <a:rPr lang="en" sz="1100">
                <a:solidFill>
                  <a:schemeClr val="dk1"/>
                </a:solidFill>
                <a:highlight>
                  <a:srgbClr val="FFFFFF"/>
                </a:highlight>
              </a:rPr>
              <a:t>used to run a command or OS in a light-weight namespace container. In many ways it is similar to </a:t>
            </a:r>
            <a:r>
              <a:rPr lang="en" sz="1100" u="sng">
                <a:solidFill>
                  <a:schemeClr val="hlink"/>
                </a:solidFill>
                <a:highlight>
                  <a:srgbClr val="FFFFFF"/>
                </a:highlight>
                <a:hlinkClick r:id="rId3"/>
              </a:rPr>
              <a:t>chroot(1)</a:t>
            </a:r>
            <a:r>
              <a:rPr lang="en" sz="1100">
                <a:solidFill>
                  <a:schemeClr val="dk1"/>
                </a:solidFill>
                <a:highlight>
                  <a:srgbClr val="FFFFFF"/>
                </a:highlight>
              </a:rPr>
              <a:t>, but more powerful since it fully virtualizes the file system hierarchy, as well as the process tree, the various IPC subsystems and the host and domain name</a:t>
            </a:r>
            <a:endParaRPr sz="1100">
              <a:solidFill>
                <a:schemeClr val="dk1"/>
              </a:solidFill>
              <a:highlight>
                <a:srgbClr val="FFFFFF"/>
              </a:highlight>
            </a:endParaRPr>
          </a:p>
          <a:p>
            <a:pPr indent="-293211" lvl="0" marL="457200" rtl="0" algn="l">
              <a:spcBef>
                <a:spcPts val="0"/>
              </a:spcBef>
              <a:spcAft>
                <a:spcPts val="0"/>
              </a:spcAft>
              <a:buClr>
                <a:schemeClr val="dk1"/>
              </a:buClr>
              <a:buSzPct val="100000"/>
              <a:buChar char="-"/>
            </a:pPr>
            <a:r>
              <a:rPr b="1" lang="en" sz="1100">
                <a:solidFill>
                  <a:schemeClr val="dk1"/>
                </a:solidFill>
                <a:highlight>
                  <a:srgbClr val="FFFFFF"/>
                </a:highlight>
              </a:rPr>
              <a:t>LXC</a:t>
            </a:r>
            <a:r>
              <a:rPr lang="en" sz="1100">
                <a:solidFill>
                  <a:schemeClr val="dk1"/>
                </a:solidFill>
                <a:highlight>
                  <a:srgbClr val="FFFFFF"/>
                </a:highlight>
              </a:rPr>
              <a:t>: </a:t>
            </a:r>
            <a:r>
              <a:rPr lang="en" sz="1100">
                <a:solidFill>
                  <a:srgbClr val="0066CC"/>
                </a:solidFill>
                <a:highlight>
                  <a:srgbClr val="FFFFFF"/>
                </a:highlight>
                <a:uFill>
                  <a:noFill/>
                </a:uFill>
                <a:hlinkClick r:id="rId4">
                  <a:extLst>
                    <a:ext uri="{A12FA001-AC4F-418D-AE19-62706E023703}">
                      <ahyp:hlinkClr val="tx"/>
                    </a:ext>
                  </a:extLst>
                </a:hlinkClick>
              </a:rPr>
              <a:t>The Linux Containers project (LXC)</a:t>
            </a:r>
            <a:r>
              <a:rPr lang="en" sz="1100">
                <a:solidFill>
                  <a:srgbClr val="151515"/>
                </a:solidFill>
                <a:highlight>
                  <a:srgbClr val="FFFFFF"/>
                </a:highlight>
              </a:rPr>
              <a:t> is an open source container platform that provides a set of tools, templates, libraries, and language bindings. LXC has a simple command line interface that improves the user experience when starting containers.LXC offers an operating-system level virtualization environment that is available to be installed on many Linux-based systems. Your Linux distribution may have it available through its package repository.</a:t>
            </a:r>
            <a:endParaRPr sz="1100">
              <a:solidFill>
                <a:srgbClr val="151515"/>
              </a:solidFill>
              <a:highlight>
                <a:srgbClr val="FFFFFF"/>
              </a:highlight>
            </a:endParaRPr>
          </a:p>
          <a:p>
            <a:pPr indent="-293211" lvl="0" marL="457200" rtl="0" algn="l">
              <a:spcBef>
                <a:spcPts val="0"/>
              </a:spcBef>
              <a:spcAft>
                <a:spcPts val="0"/>
              </a:spcAft>
              <a:buClr>
                <a:schemeClr val="dk1"/>
              </a:buClr>
              <a:buSzPct val="100000"/>
              <a:buChar char="-"/>
            </a:pPr>
            <a:r>
              <a:rPr b="1" lang="en" sz="1100">
                <a:solidFill>
                  <a:schemeClr val="dk1"/>
                </a:solidFill>
                <a:highlight>
                  <a:srgbClr val="FFFFFF"/>
                </a:highlight>
              </a:rPr>
              <a:t>cgroup</a:t>
            </a:r>
            <a:r>
              <a:rPr lang="en" sz="1100">
                <a:solidFill>
                  <a:schemeClr val="dk1"/>
                </a:solidFill>
                <a:highlight>
                  <a:srgbClr val="FFFFFF"/>
                </a:highlight>
              </a:rPr>
              <a:t>: (</a:t>
            </a:r>
            <a:r>
              <a:rPr b="1" lang="en" sz="1050">
                <a:solidFill>
                  <a:srgbClr val="202122"/>
                </a:solidFill>
                <a:highlight>
                  <a:srgbClr val="FFFFFF"/>
                </a:highlight>
              </a:rPr>
              <a:t>control groups</a:t>
            </a:r>
            <a:r>
              <a:rPr lang="en" sz="1050">
                <a:solidFill>
                  <a:srgbClr val="202122"/>
                </a:solidFill>
                <a:highlight>
                  <a:srgbClr val="FFFFFF"/>
                </a:highlight>
              </a:rPr>
              <a:t>) is a </a:t>
            </a:r>
            <a:r>
              <a:rPr lang="en" sz="1050">
                <a:solidFill>
                  <a:srgbClr val="0645AD"/>
                </a:solidFill>
                <a:highlight>
                  <a:srgbClr val="FFFFFF"/>
                </a:highlight>
                <a:uFill>
                  <a:noFill/>
                </a:uFill>
                <a:hlinkClick r:id="rId5">
                  <a:extLst>
                    <a:ext uri="{A12FA001-AC4F-418D-AE19-62706E023703}">
                      <ahyp:hlinkClr val="tx"/>
                    </a:ext>
                  </a:extLst>
                </a:hlinkClick>
              </a:rPr>
              <a:t>Linux kernel</a:t>
            </a:r>
            <a:r>
              <a:rPr lang="en" sz="1050">
                <a:solidFill>
                  <a:srgbClr val="202122"/>
                </a:solidFill>
                <a:highlight>
                  <a:srgbClr val="FFFFFF"/>
                </a:highlight>
              </a:rPr>
              <a:t> feature that limits, accounts for, and isolates the </a:t>
            </a:r>
            <a:r>
              <a:rPr lang="en" sz="1050">
                <a:solidFill>
                  <a:srgbClr val="0645AD"/>
                </a:solidFill>
                <a:highlight>
                  <a:srgbClr val="FFFFFF"/>
                </a:highlight>
                <a:uFill>
                  <a:noFill/>
                </a:uFill>
                <a:hlinkClick r:id="rId6">
                  <a:extLst>
                    <a:ext uri="{A12FA001-AC4F-418D-AE19-62706E023703}">
                      <ahyp:hlinkClr val="tx"/>
                    </a:ext>
                  </a:extLst>
                </a:hlinkClick>
              </a:rPr>
              <a:t>resource usage</a:t>
            </a:r>
            <a:r>
              <a:rPr lang="en" sz="1050">
                <a:solidFill>
                  <a:srgbClr val="202122"/>
                </a:solidFill>
                <a:highlight>
                  <a:srgbClr val="FFFFFF"/>
                </a:highlight>
              </a:rPr>
              <a:t> (CPU, memory, disk I/O, network, etc.) of a collection of </a:t>
            </a:r>
            <a:r>
              <a:rPr lang="en" sz="1050" u="sng">
                <a:solidFill>
                  <a:srgbClr val="0645AD"/>
                </a:solidFill>
                <a:highlight>
                  <a:srgbClr val="FFFFFF"/>
                </a:highlight>
                <a:hlinkClick r:id="rId7">
                  <a:extLst>
                    <a:ext uri="{A12FA001-AC4F-418D-AE19-62706E023703}">
                      <ahyp:hlinkClr val="tx"/>
                    </a:ext>
                  </a:extLst>
                </a:hlinkClick>
              </a:rPr>
              <a:t>processes</a:t>
            </a:r>
            <a:r>
              <a:rPr lang="en" sz="1050">
                <a:solidFill>
                  <a:srgbClr val="202122"/>
                </a:solidFill>
                <a:highlight>
                  <a:srgbClr val="FFFFFF"/>
                </a:highlight>
              </a:rPr>
              <a:t>.  groups of processes are separated such that they cannot "see" resources in other groups</a:t>
            </a:r>
            <a:endParaRPr sz="1050">
              <a:solidFill>
                <a:srgbClr val="202122"/>
              </a:solidFill>
              <a:highlight>
                <a:srgbClr val="FFFFFF"/>
              </a:highlight>
            </a:endParaRPr>
          </a:p>
          <a:p>
            <a:pPr indent="-290274" lvl="0" marL="457200" rtl="0" algn="l">
              <a:spcBef>
                <a:spcPts val="0"/>
              </a:spcBef>
              <a:spcAft>
                <a:spcPts val="0"/>
              </a:spcAft>
              <a:buClr>
                <a:srgbClr val="202122"/>
              </a:buClr>
              <a:buSzPct val="100000"/>
              <a:buChar char="-"/>
            </a:pPr>
            <a:r>
              <a:rPr b="1" lang="en" sz="1050">
                <a:solidFill>
                  <a:srgbClr val="202122"/>
                </a:solidFill>
                <a:highlight>
                  <a:srgbClr val="FFFFFF"/>
                </a:highlight>
              </a:rPr>
              <a:t>Important </a:t>
            </a:r>
            <a:r>
              <a:rPr b="1" lang="en" sz="1050">
                <a:solidFill>
                  <a:srgbClr val="202122"/>
                </a:solidFill>
                <a:highlight>
                  <a:srgbClr val="FFFFFF"/>
                </a:highlight>
              </a:rPr>
              <a:t>Namespaces</a:t>
            </a:r>
            <a:r>
              <a:rPr b="1" lang="en" sz="1050">
                <a:solidFill>
                  <a:srgbClr val="202122"/>
                </a:solidFill>
                <a:highlight>
                  <a:srgbClr val="FFFFFF"/>
                </a:highlight>
              </a:rPr>
              <a:t>:</a:t>
            </a:r>
            <a:endParaRPr b="1" sz="1050">
              <a:solidFill>
                <a:srgbClr val="202122"/>
              </a:solidFill>
              <a:highlight>
                <a:srgbClr val="FFFFFF"/>
              </a:highlight>
            </a:endParaRPr>
          </a:p>
          <a:p>
            <a:pPr indent="-290274" lvl="0" marL="457200" rtl="0" algn="l">
              <a:spcBef>
                <a:spcPts val="0"/>
              </a:spcBef>
              <a:spcAft>
                <a:spcPts val="0"/>
              </a:spcAft>
              <a:buClr>
                <a:srgbClr val="202122"/>
              </a:buClr>
              <a:buSzPct val="100000"/>
              <a:buChar char="-"/>
            </a:pPr>
            <a:r>
              <a:rPr lang="en" sz="1050">
                <a:solidFill>
                  <a:srgbClr val="202122"/>
                </a:solidFill>
                <a:highlight>
                  <a:srgbClr val="FFFFFF"/>
                </a:highlight>
              </a:rPr>
              <a:t>The </a:t>
            </a:r>
            <a:r>
              <a:rPr b="1" i="1" lang="en" sz="1050">
                <a:solidFill>
                  <a:srgbClr val="202122"/>
                </a:solidFill>
                <a:highlight>
                  <a:srgbClr val="FFFFFF"/>
                </a:highlight>
              </a:rPr>
              <a:t>PID</a:t>
            </a:r>
            <a:r>
              <a:rPr i="1" lang="en" sz="1050">
                <a:solidFill>
                  <a:srgbClr val="202122"/>
                </a:solidFill>
                <a:highlight>
                  <a:srgbClr val="FFFFFF"/>
                </a:highlight>
              </a:rPr>
              <a:t> namespace</a:t>
            </a:r>
            <a:r>
              <a:rPr lang="en" sz="1050">
                <a:solidFill>
                  <a:srgbClr val="202122"/>
                </a:solidFill>
                <a:highlight>
                  <a:srgbClr val="FFFFFF"/>
                </a:highlight>
              </a:rPr>
              <a:t> provides isolation for the allocation of </a:t>
            </a:r>
            <a:r>
              <a:rPr lang="en" sz="1050">
                <a:solidFill>
                  <a:srgbClr val="0645AD"/>
                </a:solidFill>
                <a:highlight>
                  <a:srgbClr val="FFFFFF"/>
                </a:highlight>
                <a:uFill>
                  <a:noFill/>
                </a:uFill>
                <a:hlinkClick r:id="rId8">
                  <a:extLst>
                    <a:ext uri="{A12FA001-AC4F-418D-AE19-62706E023703}">
                      <ahyp:hlinkClr val="tx"/>
                    </a:ext>
                  </a:extLst>
                </a:hlinkClick>
              </a:rPr>
              <a:t>process identifiers</a:t>
            </a:r>
            <a:r>
              <a:rPr lang="en" sz="1050">
                <a:solidFill>
                  <a:srgbClr val="202122"/>
                </a:solidFill>
                <a:highlight>
                  <a:srgbClr val="FFFFFF"/>
                </a:highlight>
              </a:rPr>
              <a:t> (PIDs), lists of processes and their details. While the new namespace is isolated from other siblings, processes in its "parent" namespace still see all processes in child namespaces—albeit with different PID numbers.</a:t>
            </a:r>
            <a:endParaRPr baseline="30000" sz="1400">
              <a:solidFill>
                <a:srgbClr val="0645AD"/>
              </a:solidFill>
              <a:highlight>
                <a:srgbClr val="FFFFFF"/>
              </a:highlight>
            </a:endParaRPr>
          </a:p>
          <a:p>
            <a:pPr indent="-290274" lvl="0" marL="457200" rtl="0" algn="l">
              <a:spcBef>
                <a:spcPts val="0"/>
              </a:spcBef>
              <a:spcAft>
                <a:spcPts val="0"/>
              </a:spcAft>
              <a:buClr>
                <a:srgbClr val="202122"/>
              </a:buClr>
              <a:buSzPct val="100000"/>
              <a:buChar char="-"/>
            </a:pPr>
            <a:r>
              <a:rPr b="1" i="1" lang="en" sz="1050">
                <a:solidFill>
                  <a:srgbClr val="202122"/>
                </a:solidFill>
                <a:highlight>
                  <a:srgbClr val="FFFFFF"/>
                </a:highlight>
              </a:rPr>
              <a:t>Network</a:t>
            </a:r>
            <a:r>
              <a:rPr i="1" lang="en" sz="1050">
                <a:solidFill>
                  <a:srgbClr val="202122"/>
                </a:solidFill>
                <a:highlight>
                  <a:srgbClr val="FFFFFF"/>
                </a:highlight>
              </a:rPr>
              <a:t> namespace</a:t>
            </a:r>
            <a:r>
              <a:rPr lang="en" sz="1050">
                <a:solidFill>
                  <a:srgbClr val="202122"/>
                </a:solidFill>
                <a:highlight>
                  <a:srgbClr val="FFFFFF"/>
                </a:highlight>
              </a:rPr>
              <a:t> isolates the </a:t>
            </a:r>
            <a:r>
              <a:rPr lang="en" sz="1050">
                <a:solidFill>
                  <a:srgbClr val="0645AD"/>
                </a:solidFill>
                <a:highlight>
                  <a:srgbClr val="FFFFFF"/>
                </a:highlight>
                <a:uFill>
                  <a:noFill/>
                </a:uFill>
                <a:hlinkClick r:id="rId9">
                  <a:extLst>
                    <a:ext uri="{A12FA001-AC4F-418D-AE19-62706E023703}">
                      <ahyp:hlinkClr val="tx"/>
                    </a:ext>
                  </a:extLst>
                </a:hlinkClick>
              </a:rPr>
              <a:t>network interface controllers</a:t>
            </a:r>
            <a:r>
              <a:rPr lang="en" sz="1050">
                <a:solidFill>
                  <a:srgbClr val="202122"/>
                </a:solidFill>
                <a:highlight>
                  <a:srgbClr val="FFFFFF"/>
                </a:highlight>
              </a:rPr>
              <a:t> (physical or virtual), </a:t>
            </a:r>
            <a:r>
              <a:rPr lang="en" sz="1050">
                <a:solidFill>
                  <a:srgbClr val="0645AD"/>
                </a:solidFill>
                <a:highlight>
                  <a:srgbClr val="FFFFFF"/>
                </a:highlight>
                <a:uFill>
                  <a:noFill/>
                </a:uFill>
                <a:hlinkClick r:id="rId10">
                  <a:extLst>
                    <a:ext uri="{A12FA001-AC4F-418D-AE19-62706E023703}">
                      <ahyp:hlinkClr val="tx"/>
                    </a:ext>
                  </a:extLst>
                </a:hlinkClick>
              </a:rPr>
              <a:t>iptables</a:t>
            </a:r>
            <a:r>
              <a:rPr lang="en" sz="1050">
                <a:solidFill>
                  <a:srgbClr val="202122"/>
                </a:solidFill>
                <a:highlight>
                  <a:srgbClr val="FFFFFF"/>
                </a:highlight>
              </a:rPr>
              <a:t> firewall rules, routing tables etc. Network namespaces can be connected with each other using the "veth" virtual Ethernet device.</a:t>
            </a:r>
            <a:endParaRPr baseline="30000" sz="1400">
              <a:solidFill>
                <a:srgbClr val="0645AD"/>
              </a:solidFill>
              <a:highlight>
                <a:srgbClr val="FFFFFF"/>
              </a:highlight>
            </a:endParaRPr>
          </a:p>
          <a:p>
            <a:pPr indent="-290274" lvl="0" marL="457200" rtl="0" algn="l">
              <a:spcBef>
                <a:spcPts val="0"/>
              </a:spcBef>
              <a:spcAft>
                <a:spcPts val="0"/>
              </a:spcAft>
              <a:buClr>
                <a:srgbClr val="202122"/>
              </a:buClr>
              <a:buSzPct val="100000"/>
              <a:buChar char="-"/>
            </a:pPr>
            <a:r>
              <a:rPr i="1" lang="en" sz="1050">
                <a:solidFill>
                  <a:srgbClr val="202122"/>
                </a:solidFill>
                <a:highlight>
                  <a:srgbClr val="FFFFFF"/>
                </a:highlight>
              </a:rPr>
              <a:t>"</a:t>
            </a:r>
            <a:r>
              <a:rPr b="1" i="1" lang="en" sz="1050">
                <a:solidFill>
                  <a:srgbClr val="202122"/>
                </a:solidFill>
                <a:highlight>
                  <a:srgbClr val="FFFFFF"/>
                </a:highlight>
              </a:rPr>
              <a:t>UTS</a:t>
            </a:r>
            <a:r>
              <a:rPr i="1" lang="en" sz="1050">
                <a:solidFill>
                  <a:srgbClr val="202122"/>
                </a:solidFill>
                <a:highlight>
                  <a:srgbClr val="FFFFFF"/>
                </a:highlight>
              </a:rPr>
              <a:t>" namespace</a:t>
            </a:r>
            <a:r>
              <a:rPr lang="en" sz="1050">
                <a:solidFill>
                  <a:srgbClr val="202122"/>
                </a:solidFill>
                <a:highlight>
                  <a:srgbClr val="FFFFFF"/>
                </a:highlight>
              </a:rPr>
              <a:t> allows changing the </a:t>
            </a:r>
            <a:r>
              <a:rPr lang="en" sz="1050">
                <a:solidFill>
                  <a:srgbClr val="0645AD"/>
                </a:solidFill>
                <a:highlight>
                  <a:srgbClr val="FFFFFF"/>
                </a:highlight>
                <a:uFill>
                  <a:noFill/>
                </a:uFill>
                <a:hlinkClick r:id="rId11">
                  <a:extLst>
                    <a:ext uri="{A12FA001-AC4F-418D-AE19-62706E023703}">
                      <ahyp:hlinkClr val="tx"/>
                    </a:ext>
                  </a:extLst>
                </a:hlinkClick>
              </a:rPr>
              <a:t>hostname</a:t>
            </a:r>
            <a:r>
              <a:rPr lang="en" sz="1050">
                <a:solidFill>
                  <a:srgbClr val="202122"/>
                </a:solidFill>
                <a:highlight>
                  <a:srgbClr val="FFFFFF"/>
                </a:highlight>
              </a:rPr>
              <a:t>.</a:t>
            </a:r>
            <a:endParaRPr sz="1050">
              <a:solidFill>
                <a:srgbClr val="202122"/>
              </a:solidFill>
              <a:highlight>
                <a:srgbClr val="FFFFFF"/>
              </a:highlight>
            </a:endParaRPr>
          </a:p>
          <a:p>
            <a:pPr indent="-290274" lvl="0" marL="457200" rtl="0" algn="l">
              <a:spcBef>
                <a:spcPts val="0"/>
              </a:spcBef>
              <a:spcAft>
                <a:spcPts val="0"/>
              </a:spcAft>
              <a:buClr>
                <a:srgbClr val="202122"/>
              </a:buClr>
              <a:buSzPct val="100000"/>
              <a:buChar char="-"/>
            </a:pPr>
            <a:r>
              <a:rPr b="1" i="1" lang="en" sz="1050">
                <a:solidFill>
                  <a:srgbClr val="0645AD"/>
                </a:solidFill>
                <a:highlight>
                  <a:srgbClr val="FFFFFF"/>
                </a:highlight>
                <a:uFill>
                  <a:noFill/>
                </a:uFill>
                <a:hlinkClick r:id="rId12">
                  <a:extLst>
                    <a:ext uri="{A12FA001-AC4F-418D-AE19-62706E023703}">
                      <ahyp:hlinkClr val="tx"/>
                    </a:ext>
                  </a:extLst>
                </a:hlinkClick>
              </a:rPr>
              <a:t>Mount</a:t>
            </a:r>
            <a:r>
              <a:rPr i="1" lang="en" sz="1050">
                <a:solidFill>
                  <a:srgbClr val="202122"/>
                </a:solidFill>
                <a:highlight>
                  <a:srgbClr val="FFFFFF"/>
                </a:highlight>
              </a:rPr>
              <a:t> namespace</a:t>
            </a:r>
            <a:r>
              <a:rPr lang="en" sz="1050">
                <a:solidFill>
                  <a:srgbClr val="202122"/>
                </a:solidFill>
                <a:highlight>
                  <a:srgbClr val="FFFFFF"/>
                </a:highlight>
              </a:rPr>
              <a:t> allows creating a different file system layout, or making certain mount points read-only.</a:t>
            </a:r>
            <a:endParaRPr baseline="30000" sz="1400">
              <a:solidFill>
                <a:srgbClr val="0645AD"/>
              </a:solidFill>
              <a:highlight>
                <a:srgbClr val="FFFFFF"/>
              </a:highlight>
            </a:endParaRPr>
          </a:p>
          <a:p>
            <a:pPr indent="-290274" lvl="0" marL="457200" rtl="0" algn="l">
              <a:spcBef>
                <a:spcPts val="0"/>
              </a:spcBef>
              <a:spcAft>
                <a:spcPts val="0"/>
              </a:spcAft>
              <a:buClr>
                <a:srgbClr val="202122"/>
              </a:buClr>
              <a:buSzPct val="100000"/>
              <a:buChar char="-"/>
            </a:pPr>
            <a:r>
              <a:rPr b="1" i="1" lang="en" sz="1050">
                <a:solidFill>
                  <a:srgbClr val="202122"/>
                </a:solidFill>
                <a:highlight>
                  <a:srgbClr val="FFFFFF"/>
                </a:highlight>
              </a:rPr>
              <a:t>IPC</a:t>
            </a:r>
            <a:r>
              <a:rPr i="1" lang="en" sz="1050">
                <a:solidFill>
                  <a:srgbClr val="202122"/>
                </a:solidFill>
                <a:highlight>
                  <a:srgbClr val="FFFFFF"/>
                </a:highlight>
              </a:rPr>
              <a:t> namespace</a:t>
            </a:r>
            <a:r>
              <a:rPr lang="en" sz="1050">
                <a:solidFill>
                  <a:srgbClr val="202122"/>
                </a:solidFill>
                <a:highlight>
                  <a:srgbClr val="FFFFFF"/>
                </a:highlight>
              </a:rPr>
              <a:t> isolates the System V </a:t>
            </a:r>
            <a:r>
              <a:rPr lang="en" sz="1050">
                <a:solidFill>
                  <a:srgbClr val="0645AD"/>
                </a:solidFill>
                <a:highlight>
                  <a:srgbClr val="FFFFFF"/>
                </a:highlight>
                <a:uFill>
                  <a:noFill/>
                </a:uFill>
                <a:hlinkClick r:id="rId13">
                  <a:extLst>
                    <a:ext uri="{A12FA001-AC4F-418D-AE19-62706E023703}">
                      <ahyp:hlinkClr val="tx"/>
                    </a:ext>
                  </a:extLst>
                </a:hlinkClick>
              </a:rPr>
              <a:t>inter-process communication</a:t>
            </a:r>
            <a:r>
              <a:rPr lang="en" sz="1050">
                <a:solidFill>
                  <a:srgbClr val="202122"/>
                </a:solidFill>
                <a:highlight>
                  <a:srgbClr val="FFFFFF"/>
                </a:highlight>
              </a:rPr>
              <a:t> between namespaces.</a:t>
            </a:r>
            <a:endParaRPr sz="1050">
              <a:solidFill>
                <a:srgbClr val="202122"/>
              </a:solidFill>
              <a:highlight>
                <a:srgbClr val="FFFFFF"/>
              </a:highlight>
            </a:endParaRPr>
          </a:p>
          <a:p>
            <a:pPr indent="-290274" lvl="0" marL="457200" rtl="0" algn="l">
              <a:spcBef>
                <a:spcPts val="0"/>
              </a:spcBef>
              <a:spcAft>
                <a:spcPts val="0"/>
              </a:spcAft>
              <a:buClr>
                <a:srgbClr val="202122"/>
              </a:buClr>
              <a:buSzPct val="100000"/>
              <a:buChar char="-"/>
            </a:pPr>
            <a:r>
              <a:rPr b="1" i="1" lang="en" sz="1050">
                <a:solidFill>
                  <a:srgbClr val="202122"/>
                </a:solidFill>
                <a:highlight>
                  <a:srgbClr val="FFFFFF"/>
                </a:highlight>
              </a:rPr>
              <a:t>User</a:t>
            </a:r>
            <a:r>
              <a:rPr i="1" lang="en" sz="1050">
                <a:solidFill>
                  <a:srgbClr val="202122"/>
                </a:solidFill>
                <a:highlight>
                  <a:srgbClr val="FFFFFF"/>
                </a:highlight>
              </a:rPr>
              <a:t> namespace</a:t>
            </a:r>
            <a:r>
              <a:rPr lang="en" sz="1050">
                <a:solidFill>
                  <a:srgbClr val="202122"/>
                </a:solidFill>
                <a:highlight>
                  <a:srgbClr val="FFFFFF"/>
                </a:highlight>
              </a:rPr>
              <a:t> isolates the user IDs between namespaces.</a:t>
            </a:r>
            <a:endParaRPr sz="1200">
              <a:solidFill>
                <a:srgbClr val="24292F"/>
              </a:solidFill>
              <a:highlight>
                <a:srgbClr val="FFFFFF"/>
              </a:highligh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Docker Architecture</a:t>
            </a:r>
            <a:endParaRPr/>
          </a:p>
        </p:txBody>
      </p:sp>
      <p:sp>
        <p:nvSpPr>
          <p:cNvPr id="93" name="Google Shape;93;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94" name="Google Shape;94;p19"/>
          <p:cNvPicPr preferRelativeResize="0"/>
          <p:nvPr/>
        </p:nvPicPr>
        <p:blipFill>
          <a:blip r:embed="rId3">
            <a:alphaModFix/>
          </a:blip>
          <a:stretch>
            <a:fillRect/>
          </a:stretch>
        </p:blipFill>
        <p:spPr>
          <a:xfrm>
            <a:off x="439600" y="1152475"/>
            <a:ext cx="8077923" cy="386487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Docker Components</a:t>
            </a:r>
            <a:endParaRPr/>
          </a:p>
        </p:txBody>
      </p:sp>
      <p:sp>
        <p:nvSpPr>
          <p:cNvPr id="100" name="Google Shape;100;p2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95000"/>
              </a:lnSpc>
              <a:spcBef>
                <a:spcPts val="500"/>
              </a:spcBef>
              <a:spcAft>
                <a:spcPts val="0"/>
              </a:spcAft>
              <a:buClr>
                <a:schemeClr val="dk1"/>
              </a:buClr>
              <a:buSzPts val="1018"/>
              <a:buFont typeface="Arial"/>
              <a:buNone/>
            </a:pPr>
            <a:r>
              <a:rPr lang="en" sz="1071">
                <a:solidFill>
                  <a:srgbClr val="202122"/>
                </a:solidFill>
                <a:highlight>
                  <a:srgbClr val="FFFFFF"/>
                </a:highlight>
              </a:rPr>
              <a:t>The Docker software as a service offering consists of three components:</a:t>
            </a:r>
            <a:endParaRPr sz="1471">
              <a:solidFill>
                <a:srgbClr val="202122"/>
              </a:solidFill>
              <a:highlight>
                <a:srgbClr val="FFFFFF"/>
              </a:highlight>
            </a:endParaRPr>
          </a:p>
          <a:p>
            <a:pPr indent="-290274" lvl="0" marL="685800" rtl="0" algn="l">
              <a:lnSpc>
                <a:spcPct val="95000"/>
              </a:lnSpc>
              <a:spcBef>
                <a:spcPts val="600"/>
              </a:spcBef>
              <a:spcAft>
                <a:spcPts val="0"/>
              </a:spcAft>
              <a:buClr>
                <a:srgbClr val="202122"/>
              </a:buClr>
              <a:buSzPts val="971"/>
              <a:buChar char="●"/>
            </a:pPr>
            <a:r>
              <a:rPr b="1" lang="en" sz="1071">
                <a:solidFill>
                  <a:srgbClr val="202122"/>
                </a:solidFill>
                <a:highlight>
                  <a:srgbClr val="FFFFFF"/>
                </a:highlight>
              </a:rPr>
              <a:t>Software:</a:t>
            </a:r>
            <a:r>
              <a:rPr lang="en" sz="1071">
                <a:solidFill>
                  <a:srgbClr val="202122"/>
                </a:solidFill>
                <a:highlight>
                  <a:srgbClr val="FFFFFF"/>
                </a:highlight>
              </a:rPr>
              <a:t> The Docker </a:t>
            </a:r>
            <a:r>
              <a:rPr lang="en" sz="1071">
                <a:solidFill>
                  <a:srgbClr val="0645AD"/>
                </a:solidFill>
                <a:highlight>
                  <a:srgbClr val="FFFFFF"/>
                </a:highlight>
                <a:uFill>
                  <a:noFill/>
                </a:uFill>
                <a:hlinkClick r:id="rId3">
                  <a:extLst>
                    <a:ext uri="{A12FA001-AC4F-418D-AE19-62706E023703}">
                      <ahyp:hlinkClr val="tx"/>
                    </a:ext>
                  </a:extLst>
                </a:hlinkClick>
              </a:rPr>
              <a:t>daemon</a:t>
            </a:r>
            <a:r>
              <a:rPr lang="en" sz="1071">
                <a:solidFill>
                  <a:srgbClr val="202122"/>
                </a:solidFill>
                <a:highlight>
                  <a:srgbClr val="FFFFFF"/>
                </a:highlight>
              </a:rPr>
              <a:t>, called </a:t>
            </a:r>
            <a:r>
              <a:rPr lang="en" sz="1071">
                <a:solidFill>
                  <a:schemeClr val="dk1"/>
                </a:solidFill>
                <a:highlight>
                  <a:srgbClr val="F8F9FA"/>
                </a:highlight>
              </a:rPr>
              <a:t>dockerd</a:t>
            </a:r>
            <a:r>
              <a:rPr lang="en" sz="1071">
                <a:solidFill>
                  <a:srgbClr val="202122"/>
                </a:solidFill>
                <a:highlight>
                  <a:srgbClr val="FFFFFF"/>
                </a:highlight>
              </a:rPr>
              <a:t>, is a persistent process that manages Docker containers and handles container objects. The daemon listens for requests sent via the Docker Engine API.The Docker client program, called </a:t>
            </a:r>
            <a:r>
              <a:rPr lang="en" sz="1071">
                <a:solidFill>
                  <a:schemeClr val="dk1"/>
                </a:solidFill>
                <a:highlight>
                  <a:srgbClr val="F8F9FA"/>
                </a:highlight>
              </a:rPr>
              <a:t>docker</a:t>
            </a:r>
            <a:r>
              <a:rPr lang="en" sz="1071">
                <a:solidFill>
                  <a:srgbClr val="202122"/>
                </a:solidFill>
                <a:highlight>
                  <a:srgbClr val="FFFFFF"/>
                </a:highlight>
              </a:rPr>
              <a:t>, provides a </a:t>
            </a:r>
            <a:r>
              <a:rPr lang="en" sz="1071">
                <a:solidFill>
                  <a:srgbClr val="0645AD"/>
                </a:solidFill>
                <a:highlight>
                  <a:srgbClr val="FFFFFF"/>
                </a:highlight>
                <a:uFill>
                  <a:noFill/>
                </a:uFill>
                <a:hlinkClick r:id="rId4">
                  <a:extLst>
                    <a:ext uri="{A12FA001-AC4F-418D-AE19-62706E023703}">
                      <ahyp:hlinkClr val="tx"/>
                    </a:ext>
                  </a:extLst>
                </a:hlinkClick>
              </a:rPr>
              <a:t>command-line interface</a:t>
            </a:r>
            <a:r>
              <a:rPr lang="en" sz="1071">
                <a:solidFill>
                  <a:srgbClr val="202122"/>
                </a:solidFill>
                <a:highlight>
                  <a:srgbClr val="FFFFFF"/>
                </a:highlight>
              </a:rPr>
              <a:t> (CLI), that allows users to interact with Docker daemons.</a:t>
            </a:r>
            <a:endParaRPr baseline="30000" sz="1395">
              <a:solidFill>
                <a:srgbClr val="0645AD"/>
              </a:solidFill>
              <a:highlight>
                <a:srgbClr val="FFFFFF"/>
              </a:highlight>
            </a:endParaRPr>
          </a:p>
          <a:p>
            <a:pPr indent="-290274" lvl="0" marL="685800" rtl="0" algn="l">
              <a:lnSpc>
                <a:spcPct val="95000"/>
              </a:lnSpc>
              <a:spcBef>
                <a:spcPts val="0"/>
              </a:spcBef>
              <a:spcAft>
                <a:spcPts val="0"/>
              </a:spcAft>
              <a:buClr>
                <a:srgbClr val="202122"/>
              </a:buClr>
              <a:buSzPts val="971"/>
              <a:buChar char="●"/>
            </a:pPr>
            <a:r>
              <a:rPr b="1" lang="en" sz="1071">
                <a:solidFill>
                  <a:srgbClr val="202122"/>
                </a:solidFill>
                <a:highlight>
                  <a:srgbClr val="FFFFFF"/>
                </a:highlight>
              </a:rPr>
              <a:t>Objects:</a:t>
            </a:r>
            <a:r>
              <a:rPr lang="en" sz="1071">
                <a:solidFill>
                  <a:srgbClr val="202122"/>
                </a:solidFill>
                <a:highlight>
                  <a:srgbClr val="FFFFFF"/>
                </a:highlight>
              </a:rPr>
              <a:t> Docker objects are various entities used to assemble an application in Docker. The main classes of Docker objects are images, containers, and services.</a:t>
            </a:r>
            <a:endParaRPr baseline="30000" sz="1395">
              <a:solidFill>
                <a:srgbClr val="0645AD"/>
              </a:solidFill>
              <a:highlight>
                <a:srgbClr val="FFFFFF"/>
              </a:highlight>
            </a:endParaRPr>
          </a:p>
          <a:p>
            <a:pPr indent="-290274" lvl="1" marL="1358900" rtl="0" algn="l">
              <a:lnSpc>
                <a:spcPct val="95000"/>
              </a:lnSpc>
              <a:spcBef>
                <a:spcPts val="0"/>
              </a:spcBef>
              <a:spcAft>
                <a:spcPts val="0"/>
              </a:spcAft>
              <a:buClr>
                <a:srgbClr val="202122"/>
              </a:buClr>
              <a:buSzPts val="971"/>
              <a:buChar char="○"/>
            </a:pPr>
            <a:r>
              <a:rPr lang="en" sz="1071">
                <a:solidFill>
                  <a:srgbClr val="202122"/>
                </a:solidFill>
                <a:highlight>
                  <a:srgbClr val="FFFFFF"/>
                </a:highlight>
              </a:rPr>
              <a:t>A Docker container is a standardized, encapsulated environment that runs applications. A container is managed using the Docker API or </a:t>
            </a:r>
            <a:r>
              <a:rPr lang="en" sz="1071">
                <a:solidFill>
                  <a:srgbClr val="0645AD"/>
                </a:solidFill>
                <a:highlight>
                  <a:srgbClr val="FFFFFF"/>
                </a:highlight>
                <a:uFill>
                  <a:noFill/>
                </a:uFill>
                <a:hlinkClick r:id="rId5">
                  <a:extLst>
                    <a:ext uri="{A12FA001-AC4F-418D-AE19-62706E023703}">
                      <ahyp:hlinkClr val="tx"/>
                    </a:ext>
                  </a:extLst>
                </a:hlinkClick>
              </a:rPr>
              <a:t>CLI</a:t>
            </a:r>
            <a:r>
              <a:rPr lang="en" sz="1071">
                <a:solidFill>
                  <a:srgbClr val="202122"/>
                </a:solidFill>
                <a:highlight>
                  <a:srgbClr val="FFFFFF"/>
                </a:highlight>
              </a:rPr>
              <a:t>.</a:t>
            </a:r>
            <a:endParaRPr baseline="30000" sz="1395">
              <a:solidFill>
                <a:srgbClr val="0645AD"/>
              </a:solidFill>
              <a:highlight>
                <a:srgbClr val="FFFFFF"/>
              </a:highlight>
            </a:endParaRPr>
          </a:p>
          <a:p>
            <a:pPr indent="-290274" lvl="1" marL="1358900" rtl="0" algn="l">
              <a:lnSpc>
                <a:spcPct val="95000"/>
              </a:lnSpc>
              <a:spcBef>
                <a:spcPts val="0"/>
              </a:spcBef>
              <a:spcAft>
                <a:spcPts val="0"/>
              </a:spcAft>
              <a:buClr>
                <a:srgbClr val="202122"/>
              </a:buClr>
              <a:buSzPts val="971"/>
              <a:buChar char="○"/>
            </a:pPr>
            <a:r>
              <a:rPr lang="en" sz="1071">
                <a:solidFill>
                  <a:srgbClr val="202122"/>
                </a:solidFill>
                <a:highlight>
                  <a:srgbClr val="FFFFFF"/>
                </a:highlight>
              </a:rPr>
              <a:t>A Docker image is a read-only template used to build containers. Images are used to store and ship applications.</a:t>
            </a:r>
            <a:endParaRPr baseline="30000" sz="1395">
              <a:solidFill>
                <a:srgbClr val="0645AD"/>
              </a:solidFill>
              <a:highlight>
                <a:srgbClr val="FFFFFF"/>
              </a:highlight>
            </a:endParaRPr>
          </a:p>
          <a:p>
            <a:pPr indent="-290274" lvl="1" marL="1358900" rtl="0" algn="l">
              <a:lnSpc>
                <a:spcPct val="95000"/>
              </a:lnSpc>
              <a:spcBef>
                <a:spcPts val="0"/>
              </a:spcBef>
              <a:spcAft>
                <a:spcPts val="0"/>
              </a:spcAft>
              <a:buClr>
                <a:srgbClr val="202122"/>
              </a:buClr>
              <a:buSzPts val="971"/>
              <a:buChar char="○"/>
            </a:pPr>
            <a:r>
              <a:rPr lang="en" sz="1071">
                <a:solidFill>
                  <a:srgbClr val="202122"/>
                </a:solidFill>
                <a:highlight>
                  <a:srgbClr val="FFFFFF"/>
                </a:highlight>
              </a:rPr>
              <a:t>A Docker service allows containers to be scaled across multiple Docker daemons. The result is known as a </a:t>
            </a:r>
            <a:r>
              <a:rPr i="1" lang="en" sz="1071">
                <a:solidFill>
                  <a:srgbClr val="202122"/>
                </a:solidFill>
                <a:highlight>
                  <a:srgbClr val="FFFFFF"/>
                </a:highlight>
              </a:rPr>
              <a:t>swarm</a:t>
            </a:r>
            <a:r>
              <a:rPr lang="en" sz="1071">
                <a:solidFill>
                  <a:srgbClr val="202122"/>
                </a:solidFill>
                <a:highlight>
                  <a:srgbClr val="FFFFFF"/>
                </a:highlight>
              </a:rPr>
              <a:t>, a set of cooperating daemons that communicate through the Docker API.</a:t>
            </a:r>
            <a:endParaRPr baseline="30000" sz="1395">
              <a:solidFill>
                <a:srgbClr val="0645AD"/>
              </a:solidFill>
              <a:highlight>
                <a:srgbClr val="FFFFFF"/>
              </a:highlight>
            </a:endParaRPr>
          </a:p>
          <a:p>
            <a:pPr indent="-290274" lvl="0" marL="685800" rtl="0" algn="l">
              <a:lnSpc>
                <a:spcPct val="95000"/>
              </a:lnSpc>
              <a:spcBef>
                <a:spcPts val="0"/>
              </a:spcBef>
              <a:spcAft>
                <a:spcPts val="0"/>
              </a:spcAft>
              <a:buClr>
                <a:srgbClr val="202122"/>
              </a:buClr>
              <a:buSzPts val="971"/>
              <a:buChar char="●"/>
            </a:pPr>
            <a:r>
              <a:rPr b="1" lang="en" sz="1071">
                <a:solidFill>
                  <a:srgbClr val="202122"/>
                </a:solidFill>
                <a:highlight>
                  <a:srgbClr val="FFFFFF"/>
                </a:highlight>
              </a:rPr>
              <a:t>Registries:</a:t>
            </a:r>
            <a:r>
              <a:rPr lang="en" sz="1071">
                <a:solidFill>
                  <a:srgbClr val="202122"/>
                </a:solidFill>
                <a:highlight>
                  <a:srgbClr val="FFFFFF"/>
                </a:highlight>
              </a:rPr>
              <a:t> A Docker registry is a repository for Docker images. Docker clients connect to registries to download ("pull") images for use or upload ("push") images that they have built. Registries can be public or private. Two main public registries are Docker Hub and Docker Cloud. Docker Hub is the default registry where Docker looks for images.Docker registries also allow the creation of notifications based on events.</a:t>
            </a:r>
            <a:endParaRPr baseline="30000" sz="1395">
              <a:solidFill>
                <a:srgbClr val="0645AD"/>
              </a:solidFill>
              <a:highlight>
                <a:srgbClr val="FFFFFF"/>
              </a:highlight>
            </a:endParaRPr>
          </a:p>
          <a:p>
            <a:pPr indent="0" lvl="0" marL="0" rtl="0" algn="l">
              <a:lnSpc>
                <a:spcPct val="95000"/>
              </a:lnSpc>
              <a:spcBef>
                <a:spcPts val="100"/>
              </a:spcBef>
              <a:spcAft>
                <a:spcPts val="1200"/>
              </a:spcAft>
              <a:buSzPts val="1018"/>
              <a:buNone/>
            </a:pPr>
            <a:r>
              <a:t/>
            </a:r>
            <a:endParaRPr sz="1765"/>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Docker Tools</a:t>
            </a:r>
            <a:endParaRPr/>
          </a:p>
          <a:p>
            <a:pPr indent="0" lvl="0" marL="0" rtl="0" algn="l">
              <a:spcBef>
                <a:spcPts val="0"/>
              </a:spcBef>
              <a:spcAft>
                <a:spcPts val="0"/>
              </a:spcAft>
              <a:buNone/>
            </a:pPr>
            <a:r>
              <a:t/>
            </a:r>
            <a:endParaRPr/>
          </a:p>
        </p:txBody>
      </p:sp>
      <p:sp>
        <p:nvSpPr>
          <p:cNvPr id="106" name="Google Shape;106;p2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295275" lvl="0" marL="685800" rtl="0" algn="l">
              <a:spcBef>
                <a:spcPts val="600"/>
              </a:spcBef>
              <a:spcAft>
                <a:spcPts val="0"/>
              </a:spcAft>
              <a:buClr>
                <a:srgbClr val="202122"/>
              </a:buClr>
              <a:buSzPts val="1050"/>
              <a:buChar char="●"/>
            </a:pPr>
            <a:r>
              <a:rPr b="1" lang="en" sz="950">
                <a:solidFill>
                  <a:srgbClr val="202122"/>
                </a:solidFill>
                <a:highlight>
                  <a:srgbClr val="FFFFFF"/>
                </a:highlight>
              </a:rPr>
              <a:t>Docker Compose</a:t>
            </a:r>
            <a:r>
              <a:rPr lang="en" sz="950">
                <a:solidFill>
                  <a:srgbClr val="202122"/>
                </a:solidFill>
                <a:highlight>
                  <a:srgbClr val="FFFFFF"/>
                </a:highlight>
              </a:rPr>
              <a:t> is a tool for defining and running multi-container Docker applications.It uses </a:t>
            </a:r>
            <a:r>
              <a:rPr lang="en" sz="950">
                <a:solidFill>
                  <a:srgbClr val="0645AD"/>
                </a:solidFill>
                <a:highlight>
                  <a:srgbClr val="FFFFFF"/>
                </a:highlight>
                <a:uFill>
                  <a:noFill/>
                </a:uFill>
                <a:hlinkClick r:id="rId3">
                  <a:extLst>
                    <a:ext uri="{A12FA001-AC4F-418D-AE19-62706E023703}">
                      <ahyp:hlinkClr val="tx"/>
                    </a:ext>
                  </a:extLst>
                </a:hlinkClick>
              </a:rPr>
              <a:t>YAML</a:t>
            </a:r>
            <a:r>
              <a:rPr lang="en" sz="950">
                <a:solidFill>
                  <a:srgbClr val="202122"/>
                </a:solidFill>
                <a:highlight>
                  <a:srgbClr val="FFFFFF"/>
                </a:highlight>
              </a:rPr>
              <a:t> files to configure the application's services and performs the creation and start-up process of all the containers with a single command. The </a:t>
            </a:r>
            <a:r>
              <a:rPr lang="en" sz="950">
                <a:solidFill>
                  <a:schemeClr val="dk1"/>
                </a:solidFill>
                <a:highlight>
                  <a:srgbClr val="F8F9FA"/>
                </a:highlight>
                <a:latin typeface="Courier New"/>
                <a:ea typeface="Courier New"/>
                <a:cs typeface="Courier New"/>
                <a:sym typeface="Courier New"/>
              </a:rPr>
              <a:t>docker</a:t>
            </a:r>
            <a:r>
              <a:rPr i="1" lang="en" sz="950">
                <a:solidFill>
                  <a:schemeClr val="dk1"/>
                </a:solidFill>
                <a:highlight>
                  <a:srgbClr val="F8F9FA"/>
                </a:highlight>
                <a:latin typeface="Courier New"/>
                <a:ea typeface="Courier New"/>
                <a:cs typeface="Courier New"/>
                <a:sym typeface="Courier New"/>
              </a:rPr>
              <a:t>-compose</a:t>
            </a:r>
            <a:r>
              <a:rPr lang="en" sz="950">
                <a:solidFill>
                  <a:srgbClr val="202122"/>
                </a:solidFill>
                <a:highlight>
                  <a:srgbClr val="FFFFFF"/>
                </a:highlight>
              </a:rPr>
              <a:t> CLI utility allows users to run commands on multiple containers at once, for example, building images, </a:t>
            </a:r>
            <a:r>
              <a:rPr lang="en" sz="950">
                <a:solidFill>
                  <a:srgbClr val="0645AD"/>
                </a:solidFill>
                <a:highlight>
                  <a:srgbClr val="FFFFFF"/>
                </a:highlight>
                <a:uFill>
                  <a:noFill/>
                </a:uFill>
                <a:hlinkClick r:id="rId4">
                  <a:extLst>
                    <a:ext uri="{A12FA001-AC4F-418D-AE19-62706E023703}">
                      <ahyp:hlinkClr val="tx"/>
                    </a:ext>
                  </a:extLst>
                </a:hlinkClick>
              </a:rPr>
              <a:t>scaling</a:t>
            </a:r>
            <a:r>
              <a:rPr lang="en" sz="950">
                <a:solidFill>
                  <a:srgbClr val="202122"/>
                </a:solidFill>
                <a:highlight>
                  <a:srgbClr val="FFFFFF"/>
                </a:highlight>
              </a:rPr>
              <a:t> containers, running containers that were stopped, and more.Commands related to image manipulation, or user-interactive options, are not relevant in Docker Compose because they address one container.The </a:t>
            </a:r>
            <a:r>
              <a:rPr b="1" lang="en" sz="950">
                <a:solidFill>
                  <a:srgbClr val="202122"/>
                </a:solidFill>
                <a:highlight>
                  <a:srgbClr val="FFFFFF"/>
                </a:highlight>
              </a:rPr>
              <a:t>docker-compose.yml</a:t>
            </a:r>
            <a:r>
              <a:rPr lang="en" sz="950">
                <a:solidFill>
                  <a:srgbClr val="202122"/>
                </a:solidFill>
                <a:highlight>
                  <a:srgbClr val="FFFFFF"/>
                </a:highlight>
              </a:rPr>
              <a:t> file is used to define an application's services and includes various configuration options. For example, the </a:t>
            </a:r>
            <a:r>
              <a:rPr lang="en" sz="950">
                <a:solidFill>
                  <a:schemeClr val="dk1"/>
                </a:solidFill>
                <a:highlight>
                  <a:srgbClr val="F8F9FA"/>
                </a:highlight>
                <a:latin typeface="Courier New"/>
                <a:ea typeface="Courier New"/>
                <a:cs typeface="Courier New"/>
                <a:sym typeface="Courier New"/>
              </a:rPr>
              <a:t>build</a:t>
            </a:r>
            <a:r>
              <a:rPr lang="en" sz="950">
                <a:solidFill>
                  <a:srgbClr val="202122"/>
                </a:solidFill>
                <a:highlight>
                  <a:srgbClr val="FFFFFF"/>
                </a:highlight>
              </a:rPr>
              <a:t> option defines configuration options such as the Dockerfile path, the </a:t>
            </a:r>
            <a:r>
              <a:rPr lang="en" sz="950">
                <a:solidFill>
                  <a:schemeClr val="dk1"/>
                </a:solidFill>
                <a:highlight>
                  <a:srgbClr val="F8F9FA"/>
                </a:highlight>
                <a:latin typeface="Courier New"/>
                <a:ea typeface="Courier New"/>
                <a:cs typeface="Courier New"/>
                <a:sym typeface="Courier New"/>
              </a:rPr>
              <a:t>command</a:t>
            </a:r>
            <a:r>
              <a:rPr lang="en" sz="950">
                <a:solidFill>
                  <a:srgbClr val="202122"/>
                </a:solidFill>
                <a:highlight>
                  <a:srgbClr val="FFFFFF"/>
                </a:highlight>
              </a:rPr>
              <a:t> option allows one to override default Docker commands, and more.</a:t>
            </a:r>
            <a:r>
              <a:rPr baseline="30000" lang="en" sz="1300">
                <a:solidFill>
                  <a:srgbClr val="0645AD"/>
                </a:solidFill>
                <a:highlight>
                  <a:srgbClr val="FFFFFF"/>
                </a:highlight>
                <a:uFill>
                  <a:noFill/>
                </a:uFill>
                <a:hlinkClick r:id="rId5">
                  <a:extLst>
                    <a:ext uri="{A12FA001-AC4F-418D-AE19-62706E023703}">
                      <ahyp:hlinkClr val="tx"/>
                    </a:ext>
                  </a:extLst>
                </a:hlinkClick>
              </a:rPr>
              <a:t>[</a:t>
            </a:r>
            <a:r>
              <a:rPr lang="en" sz="950">
                <a:solidFill>
                  <a:srgbClr val="202122"/>
                </a:solidFill>
                <a:highlight>
                  <a:srgbClr val="FFFFFF"/>
                </a:highlight>
              </a:rPr>
              <a:t>The first public beta version of Docker Compose (version 0.0.1) was released on December 21, 2013. The first production-ready version (1.0) was made available on October 16, 2014.</a:t>
            </a:r>
            <a:endParaRPr baseline="30000" sz="1300">
              <a:solidFill>
                <a:srgbClr val="0645AD"/>
              </a:solidFill>
              <a:highlight>
                <a:srgbClr val="FFFFFF"/>
              </a:highlight>
            </a:endParaRPr>
          </a:p>
          <a:p>
            <a:pPr indent="-295275" lvl="0" marL="685800" rtl="0" algn="l">
              <a:spcBef>
                <a:spcPts val="0"/>
              </a:spcBef>
              <a:spcAft>
                <a:spcPts val="0"/>
              </a:spcAft>
              <a:buClr>
                <a:srgbClr val="202122"/>
              </a:buClr>
              <a:buSzPts val="1050"/>
              <a:buChar char="●"/>
            </a:pPr>
            <a:r>
              <a:rPr b="1" lang="en" sz="950">
                <a:solidFill>
                  <a:srgbClr val="202122"/>
                </a:solidFill>
                <a:highlight>
                  <a:srgbClr val="FFFFFF"/>
                </a:highlight>
              </a:rPr>
              <a:t>Docker Swarm</a:t>
            </a:r>
            <a:r>
              <a:rPr lang="en" sz="950">
                <a:solidFill>
                  <a:srgbClr val="202122"/>
                </a:solidFill>
                <a:highlight>
                  <a:srgbClr val="FFFFFF"/>
                </a:highlight>
              </a:rPr>
              <a:t> provides native </a:t>
            </a:r>
            <a:r>
              <a:rPr lang="en" sz="950">
                <a:solidFill>
                  <a:srgbClr val="0645AD"/>
                </a:solidFill>
                <a:highlight>
                  <a:srgbClr val="FFFFFF"/>
                </a:highlight>
                <a:uFill>
                  <a:noFill/>
                </a:uFill>
                <a:hlinkClick r:id="rId6">
                  <a:extLst>
                    <a:ext uri="{A12FA001-AC4F-418D-AE19-62706E023703}">
                      <ahyp:hlinkClr val="tx"/>
                    </a:ext>
                  </a:extLst>
                </a:hlinkClick>
              </a:rPr>
              <a:t>clustering</a:t>
            </a:r>
            <a:r>
              <a:rPr lang="en" sz="950">
                <a:solidFill>
                  <a:srgbClr val="202122"/>
                </a:solidFill>
                <a:highlight>
                  <a:srgbClr val="FFFFFF"/>
                </a:highlight>
              </a:rPr>
              <a:t> functionality for Docker containers, which turns a group of Docker engines into a single virtual Docker engine. In Docker 1.12 and higher, Swarm mode is integrated with Docker Engine. The </a:t>
            </a:r>
            <a:r>
              <a:rPr lang="en" sz="950">
                <a:solidFill>
                  <a:schemeClr val="dk1"/>
                </a:solidFill>
                <a:highlight>
                  <a:srgbClr val="F8F9FA"/>
                </a:highlight>
                <a:latin typeface="Courier New"/>
                <a:ea typeface="Courier New"/>
                <a:cs typeface="Courier New"/>
                <a:sym typeface="Courier New"/>
              </a:rPr>
              <a:t>docker swarm</a:t>
            </a:r>
            <a:r>
              <a:rPr lang="en" sz="950">
                <a:solidFill>
                  <a:srgbClr val="202122"/>
                </a:solidFill>
                <a:highlight>
                  <a:srgbClr val="FFFFFF"/>
                </a:highlight>
              </a:rPr>
              <a:t> CL</a:t>
            </a:r>
            <a:r>
              <a:rPr lang="en" sz="950">
                <a:solidFill>
                  <a:srgbClr val="202122"/>
                </a:solidFill>
                <a:highlight>
                  <a:srgbClr val="FFFFFF"/>
                </a:highlight>
              </a:rPr>
              <a:t>I</a:t>
            </a:r>
            <a:r>
              <a:rPr lang="en" sz="950">
                <a:solidFill>
                  <a:srgbClr val="202122"/>
                </a:solidFill>
                <a:highlight>
                  <a:srgbClr val="FFFFFF"/>
                </a:highlight>
              </a:rPr>
              <a:t> utility allows users to run Swarm containers, create discovery tokens, list nodes in the cluster, and more.The </a:t>
            </a:r>
            <a:r>
              <a:rPr lang="en" sz="950">
                <a:solidFill>
                  <a:schemeClr val="dk1"/>
                </a:solidFill>
                <a:highlight>
                  <a:srgbClr val="F8F9FA"/>
                </a:highlight>
                <a:latin typeface="Courier New"/>
                <a:ea typeface="Courier New"/>
                <a:cs typeface="Courier New"/>
                <a:sym typeface="Courier New"/>
              </a:rPr>
              <a:t>docker node</a:t>
            </a:r>
            <a:r>
              <a:rPr lang="en" sz="950">
                <a:solidFill>
                  <a:srgbClr val="202122"/>
                </a:solidFill>
                <a:highlight>
                  <a:srgbClr val="FFFFFF"/>
                </a:highlight>
              </a:rPr>
              <a:t> CLI utility allows users to run various commands to manage nodes in a swarm, for example, listing the nodes in a swarm, updating nodes, and removing nodes from the swarm.Docker manages swarms using the </a:t>
            </a:r>
            <a:r>
              <a:rPr lang="en" sz="950">
                <a:solidFill>
                  <a:srgbClr val="0645AD"/>
                </a:solidFill>
                <a:highlight>
                  <a:srgbClr val="FFFFFF"/>
                </a:highlight>
                <a:uFill>
                  <a:noFill/>
                </a:uFill>
                <a:hlinkClick r:id="rId7">
                  <a:extLst>
                    <a:ext uri="{A12FA001-AC4F-418D-AE19-62706E023703}">
                      <ahyp:hlinkClr val="tx"/>
                    </a:ext>
                  </a:extLst>
                </a:hlinkClick>
              </a:rPr>
              <a:t>Raft</a:t>
            </a:r>
            <a:r>
              <a:rPr lang="en" sz="950">
                <a:solidFill>
                  <a:srgbClr val="202122"/>
                </a:solidFill>
                <a:highlight>
                  <a:srgbClr val="FFFFFF"/>
                </a:highlight>
              </a:rPr>
              <a:t> </a:t>
            </a:r>
            <a:r>
              <a:rPr lang="en" sz="950">
                <a:solidFill>
                  <a:srgbClr val="0645AD"/>
                </a:solidFill>
                <a:highlight>
                  <a:srgbClr val="FFFFFF"/>
                </a:highlight>
                <a:uFill>
                  <a:noFill/>
                </a:uFill>
                <a:hlinkClick r:id="rId8">
                  <a:extLst>
                    <a:ext uri="{A12FA001-AC4F-418D-AE19-62706E023703}">
                      <ahyp:hlinkClr val="tx"/>
                    </a:ext>
                  </a:extLst>
                </a:hlinkClick>
              </a:rPr>
              <a:t>consensus</a:t>
            </a:r>
            <a:r>
              <a:rPr lang="en" sz="950">
                <a:solidFill>
                  <a:srgbClr val="202122"/>
                </a:solidFill>
                <a:highlight>
                  <a:srgbClr val="FFFFFF"/>
                </a:highlight>
              </a:rPr>
              <a:t> algorithm. According to Raft, for an update to be performed, the majority of Swarm nodes need to agree on the update.</a:t>
            </a:r>
            <a:r>
              <a:rPr baseline="30000" lang="en" sz="1300">
                <a:solidFill>
                  <a:srgbClr val="0645AD"/>
                </a:solidFill>
                <a:highlight>
                  <a:srgbClr val="FFFFFF"/>
                </a:highlight>
                <a:uFill>
                  <a:noFill/>
                </a:uFill>
                <a:hlinkClick r:id="rId9">
                  <a:extLst>
                    <a:ext uri="{A12FA001-AC4F-418D-AE19-62706E023703}">
                      <ahyp:hlinkClr val="tx"/>
                    </a:ext>
                  </a:extLst>
                </a:hlinkClick>
              </a:rPr>
              <a:t>[</a:t>
            </a:r>
            <a:endParaRPr baseline="30000" sz="1300">
              <a:solidFill>
                <a:srgbClr val="0645AD"/>
              </a:solidFill>
              <a:highlight>
                <a:srgbClr val="FFFFFF"/>
              </a:highlight>
            </a:endParaRPr>
          </a:p>
          <a:p>
            <a:pPr indent="-301625" lvl="0" marL="685800" rtl="0" algn="l">
              <a:spcBef>
                <a:spcPts val="0"/>
              </a:spcBef>
              <a:spcAft>
                <a:spcPts val="0"/>
              </a:spcAft>
              <a:buClr>
                <a:srgbClr val="202122"/>
              </a:buClr>
              <a:buSzPts val="1150"/>
              <a:buChar char="●"/>
            </a:pPr>
            <a:r>
              <a:rPr b="1" lang="en" sz="950">
                <a:solidFill>
                  <a:srgbClr val="202122"/>
                </a:solidFill>
                <a:highlight>
                  <a:srgbClr val="FFFFFF"/>
                </a:highlight>
              </a:rPr>
              <a:t>Docker Volume</a:t>
            </a:r>
            <a:r>
              <a:rPr lang="en" sz="950">
                <a:solidFill>
                  <a:srgbClr val="202122"/>
                </a:solidFill>
                <a:highlight>
                  <a:srgbClr val="FFFFFF"/>
                </a:highlight>
              </a:rPr>
              <a:t> facilitates the independent persistence of data, allowing data to remain even after the container is deleted or re-created.</a:t>
            </a:r>
            <a:endParaRPr sz="1665"/>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docker </a:t>
            </a:r>
            <a:r>
              <a:rPr lang="en"/>
              <a:t>client</a:t>
            </a:r>
            <a:endParaRPr/>
          </a:p>
        </p:txBody>
      </p:sp>
      <p:sp>
        <p:nvSpPr>
          <p:cNvPr id="112" name="Google Shape;112;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docker cli is the docker client.</a:t>
            </a:r>
            <a:endParaRPr/>
          </a:p>
          <a:p>
            <a:pPr indent="-342900" lvl="0" marL="457200" rtl="0" algn="l">
              <a:spcBef>
                <a:spcPts val="0"/>
              </a:spcBef>
              <a:spcAft>
                <a:spcPts val="0"/>
              </a:spcAft>
              <a:buSzPts val="1800"/>
              <a:buChar char="-"/>
            </a:pPr>
            <a:r>
              <a:rPr lang="en"/>
              <a:t>docker client is used to connect and perform operations on docker host/</a:t>
            </a:r>
            <a:r>
              <a:rPr lang="en"/>
              <a:t>daemon</a:t>
            </a:r>
            <a:r>
              <a:rPr lang="en"/>
              <a:t>/server on the host machine.</a:t>
            </a:r>
            <a:endParaRPr/>
          </a:p>
          <a:p>
            <a:pPr indent="-342900" lvl="0" marL="457200" rtl="0" algn="l">
              <a:spcBef>
                <a:spcPts val="0"/>
              </a:spcBef>
              <a:spcAft>
                <a:spcPts val="0"/>
              </a:spcAft>
              <a:buSzPts val="1800"/>
              <a:buChar char="-"/>
            </a:pPr>
            <a:r>
              <a:rPr lang="en"/>
              <a:t>docker client can connect to any </a:t>
            </a:r>
            <a:r>
              <a:rPr lang="en"/>
              <a:t>docker</a:t>
            </a:r>
            <a:r>
              <a:rPr lang="en"/>
              <a:t> host as long as the host can be connected with-in or outside of the host network.</a:t>
            </a:r>
            <a:endParaRPr/>
          </a:p>
          <a:p>
            <a:pPr indent="-342900" lvl="0" marL="457200" rtl="0" algn="l">
              <a:spcBef>
                <a:spcPts val="0"/>
              </a:spcBef>
              <a:spcAft>
                <a:spcPts val="0"/>
              </a:spcAft>
              <a:buSzPts val="1800"/>
              <a:buChar char="-"/>
            </a:pPr>
            <a:r>
              <a:rPr lang="en"/>
              <a:t>docker client uses docker host api(s) to perform required operation.</a:t>
            </a:r>
            <a:endParaRPr/>
          </a:p>
          <a:p>
            <a:pPr indent="-342900" lvl="0" marL="457200" rtl="0" algn="l">
              <a:spcBef>
                <a:spcPts val="0"/>
              </a:spcBef>
              <a:spcAft>
                <a:spcPts val="0"/>
              </a:spcAft>
              <a:buSzPts val="1800"/>
              <a:buChar char="-"/>
            </a:pPr>
            <a:r>
              <a:rPr lang="en"/>
              <a:t>docker client has been developed using Go(aka GoLang).</a:t>
            </a:r>
            <a:endParaRPr/>
          </a:p>
          <a:p>
            <a:pPr indent="-342900" lvl="0" marL="457200" rtl="0" algn="l">
              <a:spcBef>
                <a:spcPts val="0"/>
              </a:spcBef>
              <a:spcAft>
                <a:spcPts val="0"/>
              </a:spcAft>
              <a:buSzPts val="1800"/>
              <a:buChar char="-"/>
            </a:pPr>
            <a:r>
              <a:rPr lang="en"/>
              <a:t>In order to know the docker version of client and server use the following </a:t>
            </a:r>
            <a:r>
              <a:rPr lang="en"/>
              <a:t>command </a:t>
            </a:r>
            <a:endParaRPr/>
          </a:p>
          <a:p>
            <a:pPr indent="-317500" lvl="1" marL="914400" rtl="0" algn="l">
              <a:spcBef>
                <a:spcPts val="0"/>
              </a:spcBef>
              <a:spcAft>
                <a:spcPts val="0"/>
              </a:spcAft>
              <a:buSzPts val="1400"/>
              <a:buChar char="-"/>
            </a:pPr>
            <a:r>
              <a:rPr lang="en"/>
              <a:t>docker version</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docker commands</a:t>
            </a:r>
            <a:endParaRPr/>
          </a:p>
        </p:txBody>
      </p:sp>
      <p:sp>
        <p:nvSpPr>
          <p:cNvPr id="118" name="Google Shape;118;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know the information about the docker </a:t>
            </a:r>
            <a:r>
              <a:rPr lang="en"/>
              <a:t>environment</a:t>
            </a:r>
            <a:endParaRPr/>
          </a:p>
          <a:p>
            <a:pPr indent="-317500" lvl="1" marL="914400" rtl="0" algn="l">
              <a:spcBef>
                <a:spcPts val="0"/>
              </a:spcBef>
              <a:spcAft>
                <a:spcPts val="0"/>
              </a:spcAft>
              <a:buSzPts val="1400"/>
              <a:buChar char="-"/>
            </a:pPr>
            <a:r>
              <a:rPr lang="en"/>
              <a:t>docker info</a:t>
            </a:r>
            <a:endParaRPr/>
          </a:p>
          <a:p>
            <a:pPr indent="-342900" lvl="0" marL="457200" rtl="0" algn="l">
              <a:spcBef>
                <a:spcPts val="0"/>
              </a:spcBef>
              <a:spcAft>
                <a:spcPts val="0"/>
              </a:spcAft>
              <a:buSzPts val="1800"/>
              <a:buChar char="-"/>
            </a:pPr>
            <a:r>
              <a:rPr lang="en"/>
              <a:t>to get help </a:t>
            </a:r>
            <a:endParaRPr/>
          </a:p>
          <a:p>
            <a:pPr indent="-317500" lvl="1" marL="914400" rtl="0" algn="l">
              <a:spcBef>
                <a:spcPts val="0"/>
              </a:spcBef>
              <a:spcAft>
                <a:spcPts val="0"/>
              </a:spcAft>
              <a:buSzPts val="1400"/>
              <a:buChar char="-"/>
            </a:pPr>
            <a:r>
              <a:rPr lang="en"/>
              <a:t>docker help</a:t>
            </a:r>
            <a:endParaRPr/>
          </a:p>
          <a:p>
            <a:pPr indent="-342900" lvl="0" marL="457200" rtl="0" algn="l">
              <a:spcBef>
                <a:spcPts val="0"/>
              </a:spcBef>
              <a:spcAft>
                <a:spcPts val="0"/>
              </a:spcAft>
              <a:buSzPts val="1800"/>
              <a:buChar char="-"/>
            </a:pPr>
            <a:r>
              <a:rPr lang="en"/>
              <a:t>know the information about the docker containers</a:t>
            </a:r>
            <a:endParaRPr/>
          </a:p>
          <a:p>
            <a:pPr indent="-317500" lvl="1" marL="914400" rtl="0" algn="l">
              <a:spcBef>
                <a:spcPts val="0"/>
              </a:spcBef>
              <a:spcAft>
                <a:spcPts val="0"/>
              </a:spcAft>
              <a:buSzPts val="1400"/>
              <a:buChar char="-"/>
            </a:pPr>
            <a:r>
              <a:rPr lang="en"/>
              <a:t>docker ps </a:t>
            </a:r>
            <a:endParaRPr/>
          </a:p>
          <a:p>
            <a:pPr indent="-317500" lvl="1" marL="914400" rtl="0" algn="l">
              <a:spcBef>
                <a:spcPts val="0"/>
              </a:spcBef>
              <a:spcAft>
                <a:spcPts val="0"/>
              </a:spcAft>
              <a:buSzPts val="1400"/>
              <a:buChar char="-"/>
            </a:pPr>
            <a:r>
              <a:rPr lang="en"/>
              <a:t>docker ps -a # to get all containers</a:t>
            </a:r>
            <a:endParaRPr sz="140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